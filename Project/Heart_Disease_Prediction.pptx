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965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62750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6" name="Shape 3"/>
          <p:cNvSpPr/>
          <p:nvPr/>
        </p:nvSpPr>
        <p:spPr>
          <a:xfrm>
            <a:off x="21195" y="6765138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7" name="Shape 4"/>
          <p:cNvSpPr/>
          <p:nvPr/>
        </p:nvSpPr>
        <p:spPr>
          <a:xfrm>
            <a:off x="41327" y="6772183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8" name="Shape 5"/>
          <p:cNvSpPr/>
          <p:nvPr/>
        </p:nvSpPr>
        <p:spPr>
          <a:xfrm>
            <a:off x="59387" y="6783531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9" name="Shape 6"/>
          <p:cNvSpPr/>
          <p:nvPr/>
        </p:nvSpPr>
        <p:spPr>
          <a:xfrm>
            <a:off x="74469" y="6798613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10" name="Shape 7"/>
          <p:cNvSpPr/>
          <p:nvPr/>
        </p:nvSpPr>
        <p:spPr>
          <a:xfrm>
            <a:off x="85817" y="6816673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11" name="Shape 8"/>
          <p:cNvSpPr/>
          <p:nvPr/>
        </p:nvSpPr>
        <p:spPr>
          <a:xfrm>
            <a:off x="92862" y="6836805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12" name="Shape 9"/>
          <p:cNvSpPr/>
          <p:nvPr/>
        </p:nvSpPr>
        <p:spPr>
          <a:xfrm>
            <a:off x="95250" y="6858000"/>
            <a:ext cx="41148" cy="41148"/>
          </a:xfrm>
          <a:prstGeom prst="ellipse">
            <a:avLst/>
          </a:prstGeom>
          <a:solidFill>
            <a:srgbClr val="E3B9BC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629400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9696" y="6632873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8186" y="6643186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" y="6660027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46941" y="6682882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75118" y="6711059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97973" y="6743700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14814" y="6779814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25127" y="6818304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28600" y="6858000"/>
            <a:ext cx="41148" cy="41148"/>
          </a:xfrm>
          <a:prstGeom prst="ellipse">
            <a:avLst/>
          </a:prstGeom>
          <a:solidFill>
            <a:srgbClr val="E3B9BC">
              <a:alpha val="9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496050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1511" y="6499734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1973" y="6510712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0359" y="6528759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95685" y="6553508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027" y="6584456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73544" y="6620973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04492" y="6662315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9241" y="6707641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7288" y="6756027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58266" y="6806489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61950" y="6858000"/>
            <a:ext cx="41148" cy="41148"/>
          </a:xfrm>
          <a:prstGeom prst="ellipse">
            <a:avLst/>
          </a:prstGeom>
          <a:solidFill>
            <a:srgbClr val="E3B9BC">
              <a:alpha val="8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0" y="6362700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9702" y="6366311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8533" y="6377093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75636" y="6394886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30177" y="6419434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281362" y="6450376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28445" y="6487263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70737" y="6529555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07624" y="6576638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38566" y="6627823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63114" y="6682364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80907" y="6739467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91689" y="6798298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495300" y="6858000"/>
            <a:ext cx="41148" cy="41148"/>
          </a:xfrm>
          <a:prstGeom prst="ellipse">
            <a:avLst/>
          </a:prstGeom>
          <a:solidFill>
            <a:srgbClr val="E3B9BC">
              <a:alpha val="82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0" y="6229350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5712" y="6232794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30704" y="6243088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94264" y="6260118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255695" y="6283700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314325" y="6313573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369511" y="6349411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420649" y="6390822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467178" y="6437351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508589" y="6488489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544427" y="6543675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574300" y="6602305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597882" y="6663736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14912" y="6727296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625206" y="6792288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628650" y="6858000"/>
            <a:ext cx="41148" cy="41148"/>
          </a:xfrm>
          <a:prstGeom prst="ellipse">
            <a:avLst/>
          </a:prstGeom>
          <a:solidFill>
            <a:srgbClr val="E3B9BC">
              <a:alpha val="76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0" y="6096000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70308" y="6099251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140017" y="6108974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208531" y="6125089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275266" y="6147456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339653" y="6175886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401141" y="6210135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459208" y="6249911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513356" y="6294875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563125" y="6344644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608089" y="6398792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647865" y="6456859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682114" y="6518347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710544" y="6582734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732911" y="6649469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49026" y="6717983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758749" y="6787692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82" name="Shape 79"/>
          <p:cNvSpPr/>
          <p:nvPr/>
        </p:nvSpPr>
        <p:spPr>
          <a:xfrm>
            <a:off x="762000" y="6858000"/>
            <a:ext cx="41148" cy="41148"/>
          </a:xfrm>
          <a:prstGeom prst="ellipse">
            <a:avLst/>
          </a:prstGeom>
          <a:solidFill>
            <a:srgbClr val="E3B9BC">
              <a:alpha val="70000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0" y="596265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73937" y="5965708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147370" y="5974861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6" name="Shape 83"/>
          <p:cNvSpPr/>
          <p:nvPr/>
        </p:nvSpPr>
        <p:spPr>
          <a:xfrm>
            <a:off x="219795" y="5990047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290720" y="6011163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359658" y="6038062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426139" y="6070563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0" name="Shape 87"/>
          <p:cNvSpPr/>
          <p:nvPr/>
        </p:nvSpPr>
        <p:spPr>
          <a:xfrm>
            <a:off x="489710" y="6108443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1" name="Shape 88"/>
          <p:cNvSpPr/>
          <p:nvPr/>
        </p:nvSpPr>
        <p:spPr>
          <a:xfrm>
            <a:off x="549935" y="6151443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606404" y="619927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3" name="Shape 90"/>
          <p:cNvSpPr/>
          <p:nvPr/>
        </p:nvSpPr>
        <p:spPr>
          <a:xfrm>
            <a:off x="658730" y="6251596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4" name="Shape 91"/>
          <p:cNvSpPr/>
          <p:nvPr/>
        </p:nvSpPr>
        <p:spPr>
          <a:xfrm>
            <a:off x="706557" y="6308065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749557" y="636829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787437" y="6431861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819938" y="6498342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8" name="Shape 95"/>
          <p:cNvSpPr/>
          <p:nvPr/>
        </p:nvSpPr>
        <p:spPr>
          <a:xfrm>
            <a:off x="846837" y="656728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867953" y="6638205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883139" y="671063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892292" y="6784063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895350" y="6858000"/>
            <a:ext cx="41148" cy="41148"/>
          </a:xfrm>
          <a:prstGeom prst="ellipse">
            <a:avLst/>
          </a:prstGeom>
          <a:solidFill>
            <a:srgbClr val="E3B9BC">
              <a:alpha val="64000"/>
            </a:srgbClr>
          </a:solidFill>
          <a:ln/>
        </p:spPr>
      </p:sp>
      <p:sp>
        <p:nvSpPr>
          <p:cNvPr id="103" name="Shape 100"/>
          <p:cNvSpPr/>
          <p:nvPr/>
        </p:nvSpPr>
        <p:spPr>
          <a:xfrm>
            <a:off x="0" y="582930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4" name="Shape 101"/>
          <p:cNvSpPr/>
          <p:nvPr/>
        </p:nvSpPr>
        <p:spPr>
          <a:xfrm>
            <a:off x="76875" y="5832176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5" name="Shape 102"/>
          <p:cNvSpPr/>
          <p:nvPr/>
        </p:nvSpPr>
        <p:spPr>
          <a:xfrm>
            <a:off x="153320" y="584079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228907" y="5855092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7" name="Shape 104"/>
          <p:cNvSpPr/>
          <p:nvPr/>
        </p:nvSpPr>
        <p:spPr>
          <a:xfrm>
            <a:off x="303215" y="5875002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8" name="Shape 105"/>
          <p:cNvSpPr/>
          <p:nvPr/>
        </p:nvSpPr>
        <p:spPr>
          <a:xfrm>
            <a:off x="375826" y="590041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09" name="Shape 106"/>
          <p:cNvSpPr/>
          <p:nvPr/>
        </p:nvSpPr>
        <p:spPr>
          <a:xfrm>
            <a:off x="446336" y="5931173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0" name="Shape 107"/>
          <p:cNvSpPr/>
          <p:nvPr/>
        </p:nvSpPr>
        <p:spPr>
          <a:xfrm>
            <a:off x="514350" y="596712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1" name="Shape 108"/>
          <p:cNvSpPr/>
          <p:nvPr/>
        </p:nvSpPr>
        <p:spPr>
          <a:xfrm>
            <a:off x="579487" y="6008048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2" name="Shape 109"/>
          <p:cNvSpPr/>
          <p:nvPr/>
        </p:nvSpPr>
        <p:spPr>
          <a:xfrm>
            <a:off x="641384" y="605373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699694" y="610391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4" name="Shape 111"/>
          <p:cNvSpPr/>
          <p:nvPr/>
        </p:nvSpPr>
        <p:spPr>
          <a:xfrm>
            <a:off x="754090" y="6158306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5" name="Shape 112"/>
          <p:cNvSpPr/>
          <p:nvPr/>
        </p:nvSpPr>
        <p:spPr>
          <a:xfrm>
            <a:off x="804270" y="6216616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849952" y="6278513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890880" y="634365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8" name="Shape 115"/>
          <p:cNvSpPr/>
          <p:nvPr/>
        </p:nvSpPr>
        <p:spPr>
          <a:xfrm>
            <a:off x="926827" y="6411664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19" name="Shape 116"/>
          <p:cNvSpPr/>
          <p:nvPr/>
        </p:nvSpPr>
        <p:spPr>
          <a:xfrm>
            <a:off x="957590" y="6482174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982998" y="6554785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1002908" y="6629093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2" name="Shape 119"/>
          <p:cNvSpPr/>
          <p:nvPr/>
        </p:nvSpPr>
        <p:spPr>
          <a:xfrm>
            <a:off x="1017210" y="670468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3" name="Shape 120"/>
          <p:cNvSpPr/>
          <p:nvPr/>
        </p:nvSpPr>
        <p:spPr>
          <a:xfrm>
            <a:off x="1025824" y="6781125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4" name="Shape 121"/>
          <p:cNvSpPr/>
          <p:nvPr/>
        </p:nvSpPr>
        <p:spPr>
          <a:xfrm>
            <a:off x="1028700" y="6858000"/>
            <a:ext cx="41148" cy="41148"/>
          </a:xfrm>
          <a:prstGeom prst="ellipse">
            <a:avLst/>
          </a:prstGeom>
          <a:solidFill>
            <a:srgbClr val="E3B9BC">
              <a:alpha val="58000"/>
            </a:srgbClr>
          </a:solidFill>
          <a:ln/>
        </p:spPr>
      </p:sp>
      <p:sp>
        <p:nvSpPr>
          <p:cNvPr id="125" name="Text 122"/>
          <p:cNvSpPr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26" name="Text 123"/>
          <p:cNvSpPr/>
          <p:nvPr/>
        </p:nvSpPr>
        <p:spPr>
          <a:xfrm>
            <a:off x="731520" y="22860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Using Logistic Regression,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and K-Nearest Neighbors</a:t>
            </a:r>
            <a:endParaRPr lang="en-US" sz="3200" dirty="0"/>
          </a:p>
        </p:txBody>
      </p:sp>
      <p:sp>
        <p:nvSpPr>
          <p:cNvPr id="127" name="Shape 124"/>
          <p:cNvSpPr/>
          <p:nvPr/>
        </p:nvSpPr>
        <p:spPr>
          <a:xfrm>
            <a:off x="4480560" y="3657600"/>
            <a:ext cx="32004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29" name="Text 126"/>
          <p:cNvSpPr/>
          <p:nvPr/>
        </p:nvSpPr>
        <p:spPr>
          <a:xfrm>
            <a:off x="731520" y="4251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Bhargava Sai Sunil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2520030605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Prem Kumar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2520030479</a:t>
            </a:r>
            <a:endParaRPr lang="en-US" sz="1400" dirty="0"/>
          </a:p>
        </p:txBody>
      </p:sp>
      <p:sp>
        <p:nvSpPr>
          <p:cNvPr id="130" name="Text 127"/>
          <p:cNvSpPr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200" dirty="0"/>
          </a:p>
        </p:txBody>
      </p:sp>
      <p:sp>
        <p:nvSpPr>
          <p:cNvPr id="131" name="Text 128"/>
          <p:cNvSpPr/>
          <p:nvPr/>
        </p:nvSpPr>
        <p:spPr>
          <a:xfrm>
            <a:off x="731520" y="53766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Jyothsna Datti — Professor, CSE</a:t>
            </a:r>
            <a:endParaRPr lang="en-US" sz="1500" dirty="0"/>
          </a:p>
        </p:txBody>
      </p:sp>
      <p:sp>
        <p:nvSpPr>
          <p:cNvPr id="132" name="Text 129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|  Koneru Lakshmaiah Education Foundation (KLH)  |  A.Y. 2026–27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89888" y="224028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2240280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59168" y="224028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Software Requirements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227832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89888" y="322783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309360" y="3227832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9168" y="322783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4215384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89888" y="4215384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309360" y="4215384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9168" y="4215384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Outlier Analysis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0080" y="5202936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89888" y="520293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Evaluation Metrics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309360" y="5202936"/>
            <a:ext cx="566928" cy="566928"/>
          </a:xfrm>
          <a:prstGeom prst="ellipse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059168" y="520293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among the leading causes of death worldwide, claiming millions of lives every year.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individuals plays a crucial role in reducing mortality and improving treatment outcomes.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diagnosis traditionally requires experienced physicians, multiple clinical tests, and considerable time.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analyze large volumes of healthcare data and uncover hidden patterns that assist prediction.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three supervised algorithms — Logistic Regression, SVM, and KNN — to predict heart disease from patient clinical data.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18120" y="2240280"/>
            <a:ext cx="3749040" cy="3977640"/>
          </a:xfrm>
          <a:prstGeom prst="roundRect">
            <a:avLst>
              <a:gd name="adj" fmla="val 2439"/>
            </a:avLst>
          </a:prstGeom>
          <a:solidFill>
            <a:srgbClr val="1F2A44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9244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9244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 cardiovascular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worldwide, per year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9244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09244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used to train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evaluate the models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9244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09244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compared: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SVM, KNN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heart disease prediction system using Logistic Regression, SVM, and K-Nearest Neighbors.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dataset of 1,025 patient records with 13 clinical and demographic features plus a target label.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preprocessed: duplicate handling, feature/target separation, train-test split, and feature scaling.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trained and evaluated using Accuracy, Precision, Recall, F1-Score, Confusion Matrix, and ROC-AUC.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compared to identify the most effective algorithm for this classification problem.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as a decision-support tool for early risk identification — final diagnosis remains with qualified clinicians.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108813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240280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23360" y="2240280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706624"/>
            <a:ext cx="10881360" cy="466344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706624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706624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or later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172968"/>
            <a:ext cx="108813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172968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23360" y="3172968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639312"/>
            <a:ext cx="10881360" cy="466344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639312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23360" y="3639312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 — data handling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105656"/>
            <a:ext cx="108813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10565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023360" y="4105656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4572000"/>
            <a:ext cx="10881360" cy="466344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572000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023360" y="4572000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5038344"/>
            <a:ext cx="108813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5038344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023360" y="5038344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 (CSV, sourced from Kaggle)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" y="5504688"/>
            <a:ext cx="10881360" cy="466344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5504688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023360" y="5504688"/>
            <a:ext cx="7315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SVM, K-Nearest Neighbors (KNN)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332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 records  •  14 columns  •  0 missing values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920240" y="2240280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752344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20240" y="2752344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male, 0 = female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264408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920240" y="3264408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 (0–3)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776472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920240" y="3776472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blood pressure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4288536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920240" y="4288536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cholesterol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800600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920240" y="4800600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 &gt; 120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312664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restecg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920240" y="5312664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ECG result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2240280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543800" y="2240280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achieved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63640" y="2752344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43800" y="2752344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Exercise-induced angina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3264408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543800" y="3264408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 (exercise)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263640" y="3776472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543800" y="3776472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peak ST segment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4288536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43800" y="4288536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vessels (0–4)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63640" y="4800600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543800" y="4800600"/>
            <a:ext cx="397764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type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63640" y="5312664"/>
            <a:ext cx="1280160" cy="512064"/>
          </a:xfrm>
          <a:prstGeom prst="rect">
            <a:avLst/>
          </a:prstGeom>
          <a:solidFill>
            <a:srgbClr val="1F2A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543800" y="5312664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disease, 1 = disease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C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2816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1821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heart.csv; check shape, dtypes, and summary statistics.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69080" y="3086100"/>
            <a:ext cx="32004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89120" y="2286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</p:spPr>
      </p:sp>
      <p:sp>
        <p:nvSpPr>
          <p:cNvPr id="15" name="Text 12"/>
          <p:cNvSpPr/>
          <p:nvPr/>
        </p:nvSpPr>
        <p:spPr>
          <a:xfrm>
            <a:off x="4553712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0" y="2816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0" y="31821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values; drop duplicate rows before modeling.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18120" y="3086100"/>
            <a:ext cx="32004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138160" y="2286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C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8302752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21040" y="2816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(EDA)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21040" y="31821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correlation &amp; outlier analysis.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43891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4462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22960" y="4919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22960" y="52852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split; scale continuous features where required.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069080" y="5189220"/>
            <a:ext cx="32004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389120" y="43891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C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553712" y="4462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4572000" y="4919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72000" y="52852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Regression, SVM, and KNN classifiers.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18120" y="5189220"/>
            <a:ext cx="32004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138160" y="43891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</p:spPr>
      </p:sp>
      <p:sp>
        <p:nvSpPr>
          <p:cNvPr id="34" name="Text 31"/>
          <p:cNvSpPr/>
          <p:nvPr/>
        </p:nvSpPr>
        <p:spPr>
          <a:xfrm>
            <a:off x="8302752" y="4462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8321040" y="4919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21040" y="52852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ROC-AUC, Confusion Matrix.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2600" dirty="0"/>
          </a:p>
        </p:txBody>
      </p:sp>
      <p:pic>
        <p:nvPicPr>
          <p:cNvPr id="9" name="Image 1" descr="/home/claude/assets/cell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206240" cy="3840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0" y="237744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06440" y="269748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 (0): 499 patients (48.7%)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(1): 526 patients (51.3%)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fairly balanced (~51% vs 49%).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Accuracy-based metrics are reasonably reliable for evaluating models on this dataset, without needing heavy class-imbalance correction.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 Distributions</a:t>
            </a:r>
            <a:endParaRPr lang="en-US" sz="2600" dirty="0"/>
          </a:p>
        </p:txBody>
      </p:sp>
      <p:pic>
        <p:nvPicPr>
          <p:cNvPr id="9" name="Image 1" descr="/home/claude/assets/cell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94560"/>
            <a:ext cx="93268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— Observations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roughly bell-shaped; most patients are between 45 and 65 years old.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(resting BP): right-skewed, peak around 120–140 mm Hg, with high outliers above 170.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(cholesterol): right-skewed, mostly 200–300 mg/dl, with a long tail of high values.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(max heart rate): roughly normal, centered around 150–160 bpm, slightly left-skewed.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(ST depression): heavily right-skewed with a large spike at 0 — many patients show no ST depression.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 Counts</a:t>
            </a:r>
            <a:endParaRPr lang="en-US" sz="2600" dirty="0"/>
          </a:p>
        </p:txBody>
      </p:sp>
      <p:pic>
        <p:nvPicPr>
          <p:cNvPr id="9" name="Image 1" descr="/home/claude/assets/cell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0789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vs Target</a:t>
            </a:r>
            <a:endParaRPr lang="en-US" sz="2600" dirty="0"/>
          </a:p>
        </p:txBody>
      </p:sp>
      <p:pic>
        <p:nvPicPr>
          <p:cNvPr id="9" name="Image 1" descr="/home/claude/assets/cell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92354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Insights — Numerical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(max heart rate) is noticeably higher in patients with heart disease — a strong separating feature.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is lower for patients with heart disease, and higher (with more high outliers) for those without.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slightly lower on average for the disease-positive group in this dataset.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and chol show only mild differences between the two target classes.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vs Target</a:t>
            </a:r>
            <a:endParaRPr lang="en-US" sz="2600" dirty="0"/>
          </a:p>
        </p:txBody>
      </p:sp>
      <p:pic>
        <p:nvPicPr>
          <p:cNvPr id="9" name="Image 1" descr="/home/claude/assets/cell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0789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Insights — Categorical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(chest pain type): types 1–3 show much higher disease rates than type 0.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exang: patients without exercise-induced angina are disproportionately in the disease-positive group.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thal: thal = 2 is strongly associated with disease presence; thal = 3 leans toward no disease.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(major vessels): ca = 0 is strongly associated with disease presence; likelihood drops as ca increases.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more males than females in the dataset; disease prevalence differs by sex, though less sharply than cp, thal, or ca.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600" dirty="0"/>
          </a:p>
        </p:txBody>
      </p:sp>
      <p:pic>
        <p:nvPicPr>
          <p:cNvPr id="9" name="Image 1" descr="/home/claude/assets/cell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03120"/>
            <a:ext cx="5760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Key Takeaways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thalach, and slope show the strongest positive correlation with target.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exang, oldpeak, ca, and thal show the strongest negative correlation with target.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of independent features shows extreme multicollinearity (|r| &gt; 0.8) — all features can reasonably be kept for modeling.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and age are moderately negatively correlated — max heart rate tends to fall with age, matching physiology.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(IQR Method)</a:t>
            </a:r>
            <a:endParaRPr lang="en-US" sz="2600" dirty="0"/>
          </a:p>
        </p:txBody>
      </p:sp>
      <p:pic>
        <p:nvPicPr>
          <p:cNvPr id="9" name="Image 1" descr="/home/claude/assets/cell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309360" cy="3977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78040" y="2286000"/>
            <a:ext cx="4343400" cy="457200"/>
          </a:xfrm>
          <a:prstGeom prst="rect">
            <a:avLst/>
          </a:prstGeom>
          <a:solidFill>
            <a:srgbClr val="1F2A44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80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1540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1498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Range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2743200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7804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915400" y="2743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149840" y="2743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 – 80.5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178040" y="3310128"/>
            <a:ext cx="43434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78040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915400" y="33101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149840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 – 170.0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78040" y="3877056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78040" y="3877056"/>
            <a:ext cx="1737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915400" y="387705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149840" y="3877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115.0 – 371.0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178040" y="4443984"/>
            <a:ext cx="43434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78040" y="4443984"/>
            <a:ext cx="1737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915400" y="44439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0149840" y="44439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 – 217.0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178040" y="5010912"/>
            <a:ext cx="4343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78040" y="5010912"/>
            <a:ext cx="1737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915400" y="50109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149840" y="50109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 – 4.5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178040" y="58064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and trestbps show the most high-end outliers — clinically plausible rather than data-entry errors.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42316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9900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 rows, 14 columns, zero missing values; 723 duplicate rows exist and should be dropped before modeling.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16552" y="22402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99432" y="242316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99432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Target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99432" y="29900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 disease vs 49% no disease — accuracy is a reasonably reliable metric.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93024" y="22402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242316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75904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75904" y="29900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thalach, exang, oldpeak, ca, and thal show the strongest relationships with target.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43484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Severe Multicollinearity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50017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pair exceeds |r| &gt; 0.8, so all features can be retained for modeling.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16552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99432" y="443484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4599432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Outliers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99432" y="50017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chol and trestbps values look clinically real; consider capping rather than removing.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93024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75904" y="4434840"/>
            <a:ext cx="457200" cy="82296"/>
          </a:xfrm>
          <a:prstGeom prst="roundRect">
            <a:avLst/>
          </a:prstGeom>
          <a:solidFill>
            <a:srgbClr val="C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8375904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375904" y="50017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scale continuous features, and one-hot encode multi-level categorical columns.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Evaluation Metrics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C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23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estimating the probability of heart disease from a weighted combination of clinical features. Fast, interpretable, and a strong baseline.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16552" y="22402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F2A44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2423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9432" y="30175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separating boundary between disease / no-disease classes, effective in higher-dimensional feature space.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93024" y="22402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8C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8375904" y="2423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75904" y="30175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patient based on the majority class among their k most similar patients in feature space.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&amp; Compared Using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98348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9834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97680" y="498348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49834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955280" y="498348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55280" y="49834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5532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5321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297680" y="5532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97680" y="55321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955280" y="5532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55321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Machine Learning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38100" dir="5400000">
              <a:srgbClr val="99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0149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83464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balanced 1,025-record heart disease dataset was analyzed and prepared for supervised classification.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SVM, and KNN are trained and compared using Accuracy, Precision, Recall, F1-Score, and ROC-AUC.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thalach, exang, oldpeak, ca, and thal emerge as the most informative clinical predictors.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system can act as a decision-support tool for early risk identification, with final diagnosis always left to qualified healthcare professionals.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F2A44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283464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records prior to final model training.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feature scaling to continuous variables for distance- and margin-based models (KNN, SVM).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multi-level categorical columns (cp, restecg, slope, ca, thal) for linear/SVM models.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methods (Random Forest, Gradient Boosting) for further accuracy gains.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8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2188952" y="676275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88952" y="6629400"/>
            <a:ext cx="41148" cy="41148"/>
          </a:xfrm>
          <a:prstGeom prst="ellipse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188952" y="6496050"/>
            <a:ext cx="41148" cy="41148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188952" y="6362700"/>
            <a:ext cx="41148" cy="41148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2" y="6229350"/>
            <a:ext cx="41148" cy="41148"/>
          </a:xfrm>
          <a:prstGeom prst="ellipse">
            <a:avLst/>
          </a:prstGeom>
          <a:solidFill>
            <a:srgbClr val="FFFFFF">
              <a:alpha val="7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188952" y="6096000"/>
            <a:ext cx="41148" cy="41148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188952" y="5962650"/>
            <a:ext cx="41148" cy="41148"/>
          </a:xfrm>
          <a:prstGeom prst="ellipse">
            <a:avLst/>
          </a:prstGeom>
          <a:solidFill>
            <a:srgbClr val="FFFFFF">
              <a:alpha val="6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188952" y="5829300"/>
            <a:ext cx="41148" cy="41148"/>
          </a:xfrm>
          <a:prstGeom prst="ellipse">
            <a:avLst/>
          </a:prstGeom>
          <a:solidFill>
            <a:srgbClr val="FFFFFF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pic>
        <p:nvPicPr>
          <p:cNvPr id="13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965960" cy="822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Bhargava Sai Sunil (2520030605)   •   V. Prem Kumar (2520030479)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Jyothsna Datti, Professor, CSE  |  Department of CSE, KLH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2026-09-02T04:49:15Z</dcterms:created>
  <dcterms:modified xsi:type="dcterms:W3CDTF">2026-09-02T04:49:15Z</dcterms:modified>
</cp:coreProperties>
</file>